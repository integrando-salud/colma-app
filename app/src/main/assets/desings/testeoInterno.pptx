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91_1DB06F75.xml" ContentType="application/vnd.ms-powerpoint.comments+xml"/>
  <Override PartName="/ppt/comments/modernComment_1B4_396C19F0.xml" ContentType="application/vnd.ms-powerpoint.comments+xml"/>
  <Override PartName="/ppt/comments/modernComment_195_74B530B9.xml" ContentType="application/vnd.ms-powerpoint.comments+xml"/>
  <Override PartName="/ppt/comments/modernComment_1A7_4AA7E09A.xml" ContentType="application/vnd.ms-powerpoint.comments+xml"/>
  <Override PartName="/ppt/comments/modernComment_1B0_7BAC112F.xml" ContentType="application/vnd.ms-powerpoint.comments+xml"/>
  <Override PartName="/ppt/comments/modernComment_1AF_20107B7.xml" ContentType="application/vnd.ms-powerpoint.comments+xml"/>
  <Override PartName="/ppt/comments/modernComment_1B6_D626256D.xml" ContentType="application/vnd.ms-powerpoint.comments+xml"/>
  <Override PartName="/ppt/comments/modernComment_1A9_4F060201.xml" ContentType="application/vnd.ms-powerpoint.comments+xml"/>
  <Override PartName="/ppt/comments/modernComment_199_CE06DB31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sldIdLst>
    <p:sldId id="256" r:id="rId5"/>
    <p:sldId id="421" r:id="rId6"/>
    <p:sldId id="334" r:id="rId7"/>
    <p:sldId id="401" r:id="rId8"/>
    <p:sldId id="436" r:id="rId9"/>
    <p:sldId id="405" r:id="rId10"/>
    <p:sldId id="422" r:id="rId11"/>
    <p:sldId id="423" r:id="rId12"/>
    <p:sldId id="432" r:id="rId13"/>
    <p:sldId id="428" r:id="rId14"/>
    <p:sldId id="431" r:id="rId15"/>
    <p:sldId id="434" r:id="rId16"/>
    <p:sldId id="438" r:id="rId17"/>
    <p:sldId id="414" r:id="rId18"/>
    <p:sldId id="426" r:id="rId19"/>
    <p:sldId id="425" r:id="rId20"/>
    <p:sldId id="429" r:id="rId21"/>
    <p:sldId id="433" r:id="rId22"/>
    <p:sldId id="424" r:id="rId23"/>
    <p:sldId id="430" r:id="rId24"/>
    <p:sldId id="439" r:id="rId25"/>
    <p:sldId id="395" r:id="rId26"/>
    <p:sldId id="409" r:id="rId2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ED89218-922B-E5E8-A7BB-92A52E95E492}" name="Martin Miguel Díaz Maffini" initials="MM" userId="S::mdiaz_iecsiecs.onmicrosoft.com#ext#@emckclac.onmicrosoft.com::70423218-5bd2-4e11-a1f7-f604d82fa3bb" providerId="AD"/>
  <p188:author id="{9444F534-A14E-C819-934C-03F2DAA7B583}" name="Arlynes Mischell Muñoz Muñoz" initials="AM" userId="S::amunozm_cientifica.edu.pe#ext#@emckclac.onmicrosoft.com::d4534859-34ce-4788-a2ef-92ff2633f3b5" providerId="AD"/>
  <p188:author id="{7837474A-836C-29E3-DE93-6B6C76CA7465}" name="Jorge Mauricio Toyama Galla" initials="JT" userId="S::jtoyamag@cientifica.edu.pe::7b5052e4-f510-4d16-bf80-3726431046ea" providerId="AD"/>
  <p188:author id="{1862EF60-0A9C-0A39-F707-FC6B5E6EA87F}" name="Gloria Rossello" initials="GR" userId="S::grossello_iecsiecs.onmicrosoft.com#ext#@emckclac.onmicrosoft.com::9d405fc7-189f-433b-b97c-e50a46e8460f" providerId="AD"/>
  <p188:author id="{89981FB1-31D1-3991-EA13-F39E8BF996F2}" name="Scarlett Mac-Ginty Fontecilla" initials="SF" userId="S::k2150910@kcl.ac.uk::f081ea2f-d9cb-410d-b66f-71f3ebf0df85" providerId="AD"/>
  <p188:author id="{30E40FDC-AC79-9B99-EEEC-AA9447EAFF45}" name="amotta" initials="am" userId="S::amotta_iecs.org.ar#ext#@emckclac.onmicrosoft.com::2a1609c5-c0ec-41c6-853e-5b45a37dc490" providerId="AD"/>
  <p188:author id="{989EDBF2-6425-5769-665A-943D29BAD5F9}" name="Milena Korin" initials="MK" userId="S::mkorin_iecsiecs.onmicrosoft.com#ext#@emckclac.onmicrosoft.com::5b49ceea-f7c6-47ca-a4a3-77efbf9b83e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1097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9F517B-21AE-A8FA-A3DB-5C286B6696F1}" v="23" dt="2026-06-16T19:46:49.9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omments/modernComment_1A7_4AA7E09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E917E43-111F-481C-8449-7AD2CE6EDF4C}" authorId="{AED89218-922B-E5E8-A7BB-92A52E95E492}" created="2026-06-16T19:33:12.697">
    <pc:sldMkLst xmlns:pc="http://schemas.microsoft.com/office/powerpoint/2013/main/command">
      <pc:docMk/>
      <pc:sldMk cId="1252515994" sldId="423"/>
    </pc:sldMkLst>
    <p188:txBody>
      <a:bodyPr/>
      <a:lstStyle/>
      <a:p>
        <a:r>
          <a:rPr lang="es-ES"/>
          <a:t>Eso sucede pork queda guardado el cache. 
Cual sería el caso en el cual eso sucedería? </a:t>
        </a:r>
      </a:p>
    </p188:txBody>
  </p188:cm>
</p188:cmLst>
</file>

<file path=ppt/comments/modernComment_1A9_4F06020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15E0D82-38FF-48D1-BF42-912E9F2B88E8}" authorId="{AED89218-922B-E5E8-A7BB-92A52E95E492}" created="2026-06-16T19:46:03.27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325793793" sldId="425"/>
      <ac:cxnSpMk id="12" creationId="{CBA8C042-78B6-0EF8-65D3-CED12D63D6FD}"/>
    </ac:deMkLst>
    <p188:txBody>
      <a:bodyPr/>
      <a:lstStyle/>
      <a:p>
        <a:r>
          <a:rPr lang="es-ES"/>
          <a:t>Están seguros? Algunos textos van a tener que scrollearse y mucho</a:t>
        </a:r>
      </a:p>
    </p188:txBody>
  </p188:cm>
</p188:cmLst>
</file>

<file path=ppt/comments/modernComment_1AF_20107B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4BE4923-25AA-4BBB-84D9-9BF484DDE257}" authorId="{AED89218-922B-E5E8-A7BB-92A52E95E492}" created="2026-06-16T19:42:17.91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621943" sldId="431"/>
      <ac:picMk id="6" creationId="{22D9FA1C-08BD-8EF1-9FFA-C27A304B2D0A}"/>
    </ac:deMkLst>
    <p188:txBody>
      <a:bodyPr/>
      <a:lstStyle/>
      <a:p>
        <a:r>
          <a:rPr lang="es-ES"/>
          <a:t>Lo vemos</a:t>
        </a:r>
      </a:p>
    </p188:txBody>
  </p188:cm>
</p188:cmLst>
</file>

<file path=ppt/comments/modernComment_1B0_7BAC112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2559294-6C7B-4AEF-AA68-F04D32E71F81}" authorId="{AED89218-922B-E5E8-A7BB-92A52E95E492}" created="2026-06-16T19:41:27.105">
    <pc:sldMkLst xmlns:pc="http://schemas.microsoft.com/office/powerpoint/2013/main/command">
      <pc:docMk/>
      <pc:sldMk cId="2074874159" sldId="432"/>
    </pc:sldMkLst>
    <p188:txBody>
      <a:bodyPr/>
      <a:lstStyle/>
      <a:p>
        <a:r>
          <a:rPr lang="es-ES"/>
          <a:t>Estamos trabajando sobre los datos de este documento:
https://emckclac.sharepoint.com/:x:/r/sites/IoPPNcolma/WP2%20%20CHW/Contactos%20programados%20y%20alertas/Puntos%20de%20Contacto%20CHW-VERSI%C3%93N%20FINAL.xlsx?d=w2244af7bdaf147d7bf4a87585f984683&amp;csf=1&amp;web=1&amp;e=6nP1ue
No dice nada de mensajes apra esos valores ni ningun color.....</a:t>
        </a:r>
      </a:p>
    </p188:txBody>
  </p188:cm>
</p188:cmLst>
</file>

<file path=ppt/comments/modernComment_1B4_396C19F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BDC5772-DB1A-4714-BBB7-810A6493EC96}" authorId="{30E40FDC-AC79-9B99-EEEC-AA9447EAFF45}" created="2026-06-02T14:27:39.68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63385840" sldId="436"/>
      <ac:picMk id="2" creationId="{5F8B1490-24DE-5110-2C5A-6A1A15F17463}"/>
    </ac:deMkLst>
    <p188:replyLst>
      <p188:reply id="{B45CA2E8-1DD1-43E0-9E46-5064D388B98B}" authorId="{9444F534-A14E-C819-934C-03F2DAA7B583}" created="2026-06-02T16:20:47.060">
        <p188:txBody>
          <a:bodyPr/>
          <a:lstStyle/>
          <a:p>
            <a:r>
              <a:rPr lang="es-ES"/>
              <a:t>En mi caso, he visto todas las sesiones y no se marcan todos los check (adjunto imagen)</a:t>
            </a:r>
          </a:p>
        </p188:txBody>
      </p188:reply>
      <p188:reply id="{E8C24CEC-2210-476B-8F87-8599832A881F}" authorId="{AED89218-922B-E5E8-A7BB-92A52E95E492}" created="2026-06-16T19:28:08.999">
        <p188:txBody>
          <a:bodyPr/>
          <a:lstStyle/>
          <a:p>
            <a:r>
              <a:rPr lang="es-ES"/>
              <a:t>Esto esta resuelto, </a:t>
            </a:r>
          </a:p>
        </p188:txBody>
      </p188:reply>
    </p188:replyLst>
    <p188:txBody>
      <a:bodyPr/>
      <a:lstStyle/>
      <a:p>
        <a:r>
          <a:rPr lang="es-ES"/>
          <a:t>Al 2/6 lo veo resuelto (pego captura)</a:t>
        </a:r>
      </a:p>
    </p188:txBody>
  </p188:cm>
</p188:cmLst>
</file>

<file path=ppt/comments/modernComment_1B6_D626256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7EECAD-4332-4320-9361-56F8DD6D539E}" authorId="{AED89218-922B-E5E8-A7BB-92A52E95E492}" created="2026-06-16T19:44:48.549">
    <pc:sldMkLst xmlns:pc="http://schemas.microsoft.com/office/powerpoint/2013/main/command">
      <pc:docMk/>
      <pc:sldMk cId="3592824173" sldId="438"/>
    </pc:sldMkLst>
    <p188:txBody>
      <a:bodyPr/>
      <a:lstStyle/>
      <a:p>
        <a:r>
          <a:rPr lang="es-ES"/>
          <a:t>Esta funcionalidad de carga de datos historicos al equipo no esta desarrollada. Los datos se persisten en el dash, no en la app.</a:t>
        </a:r>
      </a:p>
    </p188:txBody>
  </p188:cm>
</p188:cmLst>
</file>

<file path=ppt/comments/modernComment_191_1DB06F7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E9B3F34-BC5A-4FB3-BFED-5032E3F0F8EE}" authorId="{AED89218-922B-E5E8-A7BB-92A52E95E492}" created="2026-06-16T19:27:34.357">
    <pc:sldMkLst xmlns:pc="http://schemas.microsoft.com/office/powerpoint/2013/main/command">
      <pc:docMk/>
      <pc:sldMk cId="498102133" sldId="401"/>
    </pc:sldMkLst>
    <p188:txBody>
      <a:bodyPr/>
      <a:lstStyle/>
      <a:p>
        <a:r>
          <a:rPr lang="es-ES"/>
          <a:t>Esto es nuevo, hay un tercer color para ciertos valores, por favor identiquen los valores de Diastolica y sistolica y los colores que corresponden a cada rango</a:t>
        </a:r>
      </a:p>
    </p188:txBody>
  </p188:cm>
</p188:cmLst>
</file>

<file path=ppt/comments/modernComment_195_74B530B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B06BCD3-942D-469E-BB81-355322979564}" authorId="{AED89218-922B-E5E8-A7BB-92A52E95E492}" created="2026-06-16T19:31:04.91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58031545" sldId="405"/>
      <ac:spMk id="3" creationId="{4F39DC24-19D6-49D8-6C2B-D532F0400C17}"/>
    </ac:deMkLst>
    <p188:txBody>
      <a:bodyPr/>
      <a:lstStyle/>
      <a:p>
        <a:r>
          <a:rPr lang="es-ES"/>
          <a:t>Ustedes quieren que les aparezca una notificación en el telefono aun si la app esta cerrada?
Cuando se dispararía el aviso de nueva sesión?
Cuando se dispararía el de metas?</a:t>
        </a:r>
      </a:p>
    </p188:txBody>
  </p188:cm>
</p188:cmLst>
</file>

<file path=ppt/comments/modernComment_199_CE06DB3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CC3987E-8A1C-4AC0-B372-40BAF0943713}" authorId="{AED89218-922B-E5E8-A7BB-92A52E95E492}" created="2026-05-04T14:16:42.943">
    <pc:sldMkLst xmlns:pc="http://schemas.microsoft.com/office/powerpoint/2013/main/command">
      <pc:docMk/>
      <pc:sldMk cId="3456555825" sldId="409"/>
    </pc:sldMkLst>
    <p188:replyLst>
      <p188:reply id="{ADEE7B7C-BB6E-4C00-AB16-31E8D3476ABB}" authorId="{989EDBF2-6425-5769-665A-943D29BAD5F9}" created="2026-05-12T19:44:19.607">
        <p188:txBody>
          <a:bodyPr/>
          <a:lstStyle/>
          <a:p>
            <a:r>
              <a:rPr lang="es-ES"/>
              <a:t>Actualizada la slide con la propuesta</a:t>
            </a:r>
          </a:p>
        </p188:txBody>
      </p188:reply>
      <p188:reply id="{356DA13F-215B-4348-961F-1C1A300B308F}" authorId="{AED89218-922B-E5E8-A7BB-92A52E95E492}" created="2026-05-18T20:48:03.264">
        <p188:txBody>
          <a:bodyPr/>
          <a:lstStyle/>
          <a:p>
            <a:r>
              <a:rPr lang="es-ES"/>
              <a:t>Esto no estaba contemplado asi e implica bastante desarrollo. Queda al final del backlog</a:t>
            </a:r>
          </a:p>
        </p188:txBody>
      </p188:reply>
    </p188:replyLst>
    <p188:txBody>
      <a:bodyPr/>
      <a:lstStyle/>
      <a:p>
        <a:r>
          <a:rPr lang="es-ES"/>
          <a:t>Revisar por parte del equipo de investigación.</a:t>
        </a:r>
      </a:p>
    </p188:txBody>
  </p188:cm>
  <p188:cm id="{CABD8338-A9A5-45BD-A446-6A26C25EC65A}" authorId="{30E40FDC-AC79-9B99-EEEC-AA9447EAFF45}" created="2026-05-12T19:50:37.14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56555825" sldId="409"/>
      <ac:picMk id="4" creationId="{69F83718-CBD4-2B16-53A1-49DF1B70F968}"/>
    </ac:deMkLst>
    <p188:txBody>
      <a:bodyPr/>
      <a:lstStyle/>
      <a:p>
        <a:r>
          <a:rPr lang="es-ES"/>
          <a:t>Así pero más lindo ;) (bien hecho digamos)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B043C-56EE-4426-8F19-D44A2FA0BB96}" type="datetimeFigureOut">
              <a:t>16/06/2026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E864F-5CDB-4703-8A3C-609DC0E05BF3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5663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8/10/relationships/comments" Target="../comments/modernComment_191_1DB06F7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microsoft.com/office/2018/10/relationships/comments" Target="../comments/modernComment_1B4_396C19F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95_74B530B9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microsoft.com/office/2018/10/relationships/comments" Target="../comments/modernComment_1A7_4AA7E09A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microsoft.com/office/2018/10/relationships/comments" Target="../comments/modernComment_1B0_7BAC112F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microsoft.com/office/2018/10/relationships/comments" Target="../comments/modernComment_1AF_20107B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B6_D626256D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microsoft.com/office/2018/10/relationships/comments" Target="../comments/modernComment_1A9_4F06020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microsoft.com/office/2018/10/relationships/comments" Target="../comments/modernComment_199_CE06DB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Testeo interno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APP VERSIÓN 29.5.26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373EF-045D-31D7-440F-3075533FD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E3062-326E-5D36-7522-A28E79051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2974" y="1444979"/>
            <a:ext cx="7687294" cy="3397764"/>
          </a:xfrm>
        </p:spPr>
        <p:txBody>
          <a:bodyPr>
            <a:normAutofit/>
          </a:bodyPr>
          <a:lstStyle/>
          <a:p>
            <a:pPr algn="ctr"/>
            <a:r>
              <a:rPr lang="es-ES"/>
              <a:t>Pendientes de la ronda anterior</a:t>
            </a:r>
          </a:p>
        </p:txBody>
      </p:sp>
    </p:spTree>
    <p:extLst>
      <p:ext uri="{BB962C8B-B14F-4D97-AF65-F5344CB8AC3E}">
        <p14:creationId xmlns:p14="http://schemas.microsoft.com/office/powerpoint/2010/main" val="4040490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C6B93-42CC-B9A6-54C3-758F13DD0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E250657-23D1-6677-FBBD-476E68798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47" t="4958" r="-1157" b="113"/>
          <a:stretch>
            <a:fillRect/>
          </a:stretch>
        </p:blipFill>
        <p:spPr>
          <a:xfrm>
            <a:off x="3811881" y="1068617"/>
            <a:ext cx="2350033" cy="49767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7B84D0-EB5E-4531-C3A5-44B650F22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20" r="-245" b="107"/>
          <a:stretch>
            <a:fillRect/>
          </a:stretch>
        </p:blipFill>
        <p:spPr>
          <a:xfrm>
            <a:off x="633209" y="1117172"/>
            <a:ext cx="2419298" cy="5259257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12D941D-A36F-B0EB-51AE-C0C5C10BACA5}"/>
              </a:ext>
            </a:extLst>
          </p:cNvPr>
          <p:cNvSpPr txBox="1"/>
          <p:nvPr/>
        </p:nvSpPr>
        <p:spPr>
          <a:xfrm>
            <a:off x="147931" y="182751"/>
            <a:ext cx="783028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b="1" err="1"/>
              <a:t>Sesiones_Barra</a:t>
            </a:r>
            <a:r>
              <a:rPr lang="es-ES" sz="2400" b="1"/>
              <a:t> de progreso </a:t>
            </a:r>
            <a:r>
              <a:rPr lang="es-ES" sz="2400" b="1">
                <a:solidFill>
                  <a:srgbClr val="FF0000"/>
                </a:solidFill>
              </a:rPr>
              <a:t>(Pendiente)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855958A-E290-CEB2-FDEB-47416ED14941}"/>
              </a:ext>
            </a:extLst>
          </p:cNvPr>
          <p:cNvSpPr txBox="1"/>
          <p:nvPr/>
        </p:nvSpPr>
        <p:spPr>
          <a:xfrm>
            <a:off x="6406204" y="2151873"/>
            <a:ext cx="5590370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AutoNum type="arabicPeriod"/>
            </a:pPr>
            <a:r>
              <a:rPr lang="es-ES" sz="1600"/>
              <a:t>Actualmente la barra de progreso muestra el avance de las sesiones en general (Sesión 1–Sesión 2–Sesión 3) (Imagen 1).</a:t>
            </a:r>
          </a:p>
          <a:p>
            <a:pPr marL="800100" lvl="1" indent="-342900" algn="just">
              <a:buFont typeface="Arial"/>
              <a:buChar char="•"/>
            </a:pPr>
            <a:r>
              <a:rPr lang="es-ES" sz="1600"/>
              <a:t>Los módulos siempre tienen 3 sesiones, entonces no es de utilidad ver el progreso de esa manera. </a:t>
            </a:r>
          </a:p>
          <a:p>
            <a:pPr marL="800100" lvl="1" indent="-342900" algn="just">
              <a:buFont typeface="Arial"/>
              <a:buChar char="•"/>
            </a:pPr>
            <a:r>
              <a:rPr lang="es-ES" sz="1600"/>
              <a:t>La barra debería indicar el progreso por los contenidos dentro de una sesión, que sí varían. Ver imagen 2: </a:t>
            </a:r>
          </a:p>
          <a:p>
            <a:pPr marL="1257300" lvl="2" indent="-342900" algn="just">
              <a:buFont typeface="Wingdings"/>
              <a:buChar char="§"/>
            </a:pPr>
            <a:r>
              <a:rPr lang="es-ES" sz="1600"/>
              <a:t>El video explicativo es el contenido 1/2, el cuestionario es el 2/2.</a:t>
            </a:r>
          </a:p>
          <a:p>
            <a:pPr lvl="2" algn="just"/>
            <a:endParaRPr lang="es-ES" sz="1600">
              <a:solidFill>
                <a:srgbClr val="000000"/>
              </a:solidFill>
            </a:endParaRPr>
          </a:p>
        </p:txBody>
      </p:sp>
      <p:pic>
        <p:nvPicPr>
          <p:cNvPr id="15" name="Imagen 14" descr="Increíbles barras de progreso que te inspirarán">
            <a:extLst>
              <a:ext uri="{FF2B5EF4-FFF2-40B4-BE49-F238E27FC236}">
                <a16:creationId xmlns:a16="http://schemas.microsoft.com/office/drawing/2014/main" id="{3DBAEAEB-93FC-0083-B8B8-CCCB94B457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3" t="27536" r="39158" b="17600"/>
          <a:stretch>
            <a:fillRect/>
          </a:stretch>
        </p:blipFill>
        <p:spPr>
          <a:xfrm>
            <a:off x="3732695" y="5646510"/>
            <a:ext cx="2406222" cy="328088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FE4F84A-FE83-D166-5D1B-994B0ACD6540}"/>
              </a:ext>
            </a:extLst>
          </p:cNvPr>
          <p:cNvSpPr/>
          <p:nvPr/>
        </p:nvSpPr>
        <p:spPr>
          <a:xfrm>
            <a:off x="546915" y="5305781"/>
            <a:ext cx="2591877" cy="66158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9182EB-5ECA-F751-0C1C-D9FD1553218B}"/>
              </a:ext>
            </a:extLst>
          </p:cNvPr>
          <p:cNvSpPr txBox="1"/>
          <p:nvPr/>
        </p:nvSpPr>
        <p:spPr>
          <a:xfrm>
            <a:off x="3731044" y="642544"/>
            <a:ext cx="2681843" cy="47347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PE" sz="1200"/>
              <a:t>Imagen 2: Ejemplo de cómo debería de ser</a:t>
            </a: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6F865C70-FEB5-4D8D-1E16-EEA8981688D4}"/>
              </a:ext>
            </a:extLst>
          </p:cNvPr>
          <p:cNvSpPr txBox="1"/>
          <p:nvPr/>
        </p:nvSpPr>
        <p:spPr>
          <a:xfrm>
            <a:off x="765741" y="790219"/>
            <a:ext cx="2670029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PE" sz="1200"/>
              <a:t>Imagen 1: App versión actual </a:t>
            </a:r>
            <a:endParaRPr lang="es-ES" sz="1200"/>
          </a:p>
        </p:txBody>
      </p:sp>
    </p:spTree>
    <p:extLst>
      <p:ext uri="{BB962C8B-B14F-4D97-AF65-F5344CB8AC3E}">
        <p14:creationId xmlns:p14="http://schemas.microsoft.com/office/powerpoint/2010/main" val="2929897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98072C-415D-4394-528F-9A84B6C0B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40" y="934229"/>
            <a:ext cx="8100203" cy="499831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419" sz="2400" dirty="0">
                <a:solidFill>
                  <a:srgbClr val="FF0000"/>
                </a:solidFill>
                <a:ea typeface="+mn-lt"/>
                <a:cs typeface="+mn-lt"/>
              </a:rPr>
              <a:t>Usar color naranja para registros de presión entre 140-179 </a:t>
            </a:r>
            <a:r>
              <a:rPr lang="es-419" sz="2400">
                <a:solidFill>
                  <a:srgbClr val="FF0000"/>
                </a:solidFill>
                <a:ea typeface="+mn-lt"/>
                <a:cs typeface="+mn-lt"/>
              </a:rPr>
              <a:t>para el valor mayor y 90-119 para el valor menor </a:t>
            </a:r>
            <a:r>
              <a:rPr lang="es-419" sz="2400" u="sng" dirty="0">
                <a:solidFill>
                  <a:srgbClr val="FF0000"/>
                </a:solidFill>
                <a:ea typeface="+mn-lt"/>
                <a:cs typeface="+mn-lt"/>
              </a:rPr>
              <a:t>(Pendiente)</a:t>
            </a:r>
            <a:r>
              <a:rPr lang="es-419" sz="2400" dirty="0">
                <a:solidFill>
                  <a:srgbClr val="FF0000"/>
                </a:solidFill>
                <a:ea typeface="+mn-lt"/>
                <a:cs typeface="+mn-lt"/>
              </a:rPr>
              <a:t>.</a:t>
            </a:r>
          </a:p>
          <a:p>
            <a:pPr>
              <a:buAutoNum type="arabicPeriod"/>
            </a:pPr>
            <a:endParaRPr lang="es-ES"/>
          </a:p>
        </p:txBody>
      </p:sp>
      <p:pic>
        <p:nvPicPr>
          <p:cNvPr id="4" name="Imagen 3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24ADE0BE-CC05-12D0-E868-3121CE219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988" y="884027"/>
            <a:ext cx="2604099" cy="5693793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844CF0A-00CD-3897-B128-6DB75FB60225}"/>
              </a:ext>
            </a:extLst>
          </p:cNvPr>
          <p:cNvSpPr txBox="1"/>
          <p:nvPr/>
        </p:nvSpPr>
        <p:spPr>
          <a:xfrm>
            <a:off x="236279" y="121093"/>
            <a:ext cx="630865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b="1" baseline="0">
                <a:latin typeface="Aptos"/>
              </a:rPr>
              <a:t>Mis registros de salud_Presión Arterial </a:t>
            </a:r>
            <a:endParaRPr lang="es-ES" sz="1600"/>
          </a:p>
          <a:p>
            <a:pPr algn="ctr"/>
            <a:endParaRPr lang="es-ES" sz="1600"/>
          </a:p>
        </p:txBody>
      </p:sp>
      <p:pic>
        <p:nvPicPr>
          <p:cNvPr id="6" name="Gráfico 5" descr="Globos con relleno sólido">
            <a:extLst>
              <a:ext uri="{FF2B5EF4-FFF2-40B4-BE49-F238E27FC236}">
                <a16:creationId xmlns:a16="http://schemas.microsoft.com/office/drawing/2014/main" id="{9FF4BDC9-844B-3EC6-B87A-C8C9C1E3A7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81899" y="-41737"/>
            <a:ext cx="914400" cy="914400"/>
          </a:xfrm>
          <a:prstGeom prst="rect">
            <a:avLst/>
          </a:prstGeom>
        </p:spPr>
      </p:pic>
      <p:pic>
        <p:nvPicPr>
          <p:cNvPr id="7" name="Gráfico 6" descr="Globos con relleno sólido">
            <a:extLst>
              <a:ext uri="{FF2B5EF4-FFF2-40B4-BE49-F238E27FC236}">
                <a16:creationId xmlns:a16="http://schemas.microsoft.com/office/drawing/2014/main" id="{274C2B08-1FD6-0189-A4B2-553EB59B14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3030" y="5019093"/>
            <a:ext cx="914400" cy="914400"/>
          </a:xfrm>
          <a:prstGeom prst="rect">
            <a:avLst/>
          </a:prstGeom>
        </p:spPr>
      </p:pic>
      <p:pic>
        <p:nvPicPr>
          <p:cNvPr id="5" name="Imagen 4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54895D24-C46C-DC20-A4D8-E0D4C73B5B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2378" y="2136322"/>
            <a:ext cx="1983922" cy="443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1021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0B10A-A48E-EB6A-0138-414C2922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770B19-DC65-44F6-272B-3874A54AA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072" y="918907"/>
            <a:ext cx="7443485" cy="428623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419" dirty="0"/>
              <a:t>Las sesiones completadas deberían tener un </a:t>
            </a:r>
            <a:r>
              <a:rPr lang="es-419" dirty="0" err="1"/>
              <a:t>check</a:t>
            </a:r>
            <a:r>
              <a:rPr lang="es-419" dirty="0"/>
              <a:t> verde al lado si el participante revisó </a:t>
            </a:r>
            <a:r>
              <a:rPr lang="es-419" dirty="0" err="1"/>
              <a:t>todos</a:t>
            </a:r>
            <a:r>
              <a:rPr lang="es-419" dirty="0"/>
              <a:t> </a:t>
            </a:r>
            <a:r>
              <a:rPr lang="es-419" dirty="0" err="1"/>
              <a:t>los</a:t>
            </a:r>
            <a:r>
              <a:rPr lang="es-419" dirty="0"/>
              <a:t> </a:t>
            </a:r>
            <a:r>
              <a:rPr lang="es-419" dirty="0" err="1"/>
              <a:t>contenidos</a:t>
            </a:r>
            <a:r>
              <a:rPr lang="es-419" dirty="0"/>
              <a:t> (se </a:t>
            </a:r>
            <a:r>
              <a:rPr lang="es-419" dirty="0" err="1"/>
              <a:t>pasó</a:t>
            </a:r>
            <a:r>
              <a:rPr lang="es-419" dirty="0"/>
              <a:t> </a:t>
            </a:r>
            <a:r>
              <a:rPr lang="es-419" dirty="0" err="1"/>
              <a:t>por</a:t>
            </a:r>
            <a:r>
              <a:rPr lang="es-419" dirty="0"/>
              <a:t> </a:t>
            </a:r>
            <a:r>
              <a:rPr lang="es-419" dirty="0" err="1"/>
              <a:t>todas</a:t>
            </a:r>
            <a:r>
              <a:rPr lang="es-419" dirty="0"/>
              <a:t> las pantallas de la sesión).</a:t>
            </a:r>
          </a:p>
          <a:p>
            <a:pPr marL="0" indent="0">
              <a:buNone/>
            </a:pPr>
            <a:endParaRPr lang="es-419"/>
          </a:p>
          <a:p>
            <a:pPr marL="0" indent="0">
              <a:buNone/>
            </a:pPr>
            <a:endParaRPr lang="es-419" b="1"/>
          </a:p>
          <a:p>
            <a:pPr marL="0" indent="0">
              <a:buNone/>
            </a:pPr>
            <a:endParaRPr lang="es-419" b="1">
              <a:solidFill>
                <a:srgbClr val="00000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2212959-0526-7A22-65E5-DDBD77635063}"/>
              </a:ext>
            </a:extLst>
          </p:cNvPr>
          <p:cNvSpPr txBox="1"/>
          <p:nvPr/>
        </p:nvSpPr>
        <p:spPr>
          <a:xfrm>
            <a:off x="163287" y="195943"/>
            <a:ext cx="744582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419" sz="3200" b="1" baseline="0">
                <a:latin typeface="Aptos"/>
              </a:rPr>
              <a:t>Sesiones </a:t>
            </a:r>
            <a:r>
              <a:rPr lang="es-419" sz="3200" b="1">
                <a:latin typeface="Aptos"/>
              </a:rPr>
              <a:t>completadas</a:t>
            </a:r>
            <a:endParaRPr lang="es-419" sz="3200" b="1"/>
          </a:p>
        </p:txBody>
      </p:sp>
      <p:pic>
        <p:nvPicPr>
          <p:cNvPr id="9" name="Gráfico 8" descr="Globos con relleno sólido">
            <a:extLst>
              <a:ext uri="{FF2B5EF4-FFF2-40B4-BE49-F238E27FC236}">
                <a16:creationId xmlns:a16="http://schemas.microsoft.com/office/drawing/2014/main" id="{01B5D77D-9B6E-9863-DEC8-B09C7B1EB7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1899" y="-41737"/>
            <a:ext cx="914400" cy="914400"/>
          </a:xfrm>
          <a:prstGeom prst="rect">
            <a:avLst/>
          </a:prstGeom>
        </p:spPr>
      </p:pic>
      <p:pic>
        <p:nvPicPr>
          <p:cNvPr id="2" name="Imagen 1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5F8B1490-24DE-5110-2C5A-6A1A15F17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6080" y="2407477"/>
            <a:ext cx="1904448" cy="4229653"/>
          </a:xfrm>
          <a:prstGeom prst="rect">
            <a:avLst/>
          </a:prstGeom>
        </p:spPr>
      </p:pic>
      <p:pic>
        <p:nvPicPr>
          <p:cNvPr id="4" name="Imagen 3" descr="Interfaz de usuario gráfica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993A5432-F506-73CA-FC1D-D903B143AD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175" y="400639"/>
            <a:ext cx="2460102" cy="3307238"/>
          </a:xfrm>
          <a:prstGeom prst="rect">
            <a:avLst/>
          </a:prstGeom>
        </p:spPr>
      </p:pic>
      <p:pic>
        <p:nvPicPr>
          <p:cNvPr id="6" name="Imagen 5" descr="Interfaz de usuario gráfica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7EAF5AAA-0AC9-E689-A429-7A82D5E9C4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8925" y="3432928"/>
            <a:ext cx="2610458" cy="3205114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656E6449-F9B2-F233-9403-F2C1FF464D2F}"/>
              </a:ext>
            </a:extLst>
          </p:cNvPr>
          <p:cNvSpPr/>
          <p:nvPr/>
        </p:nvSpPr>
        <p:spPr>
          <a:xfrm>
            <a:off x="7604288" y="3047999"/>
            <a:ext cx="2168165" cy="4242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639B117-FB4D-9123-7A29-B166438F9B1E}"/>
              </a:ext>
            </a:extLst>
          </p:cNvPr>
          <p:cNvSpPr/>
          <p:nvPr/>
        </p:nvSpPr>
        <p:spPr>
          <a:xfrm>
            <a:off x="8916185" y="5373277"/>
            <a:ext cx="2568804" cy="11076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33858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39DC24-19D6-49D8-6C2B-D532F0400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114" y="1398618"/>
            <a:ext cx="10689771" cy="342851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br>
              <a:rPr lang="es-ES" sz="2400">
                <a:latin typeface="Aptos"/>
                <a:cs typeface="Times New Roman"/>
              </a:rPr>
            </a:br>
            <a:r>
              <a:rPr lang="es-419">
                <a:latin typeface="Aptos"/>
                <a:cs typeface="Times New Roman"/>
              </a:rPr>
              <a:t>1. Notificaciones en formato </a:t>
            </a:r>
            <a:r>
              <a:rPr lang="es-419" err="1">
                <a:latin typeface="Aptos"/>
                <a:cs typeface="Times New Roman"/>
              </a:rPr>
              <a:t>push</a:t>
            </a:r>
            <a:r>
              <a:rPr lang="es-419">
                <a:latin typeface="Aptos"/>
                <a:cs typeface="Times New Roman"/>
              </a:rPr>
              <a:t> up para completar las sesiones nuevas.</a:t>
            </a:r>
            <a:br>
              <a:rPr lang="es-419">
                <a:latin typeface="Aptos"/>
                <a:cs typeface="Times New Roman"/>
              </a:rPr>
            </a:br>
            <a:endParaRPr lang="es-419">
              <a:latin typeface="Aptos"/>
              <a:cs typeface="Times New Roman"/>
            </a:endParaRPr>
          </a:p>
          <a:p>
            <a:pPr marL="0" indent="0">
              <a:buNone/>
            </a:pPr>
            <a:r>
              <a:rPr lang="es-419">
                <a:latin typeface="Aptos"/>
                <a:cs typeface="Times New Roman"/>
              </a:rPr>
              <a:t>2. Notificaciones en formato </a:t>
            </a:r>
            <a:r>
              <a:rPr lang="es-419" err="1">
                <a:latin typeface="Aptos"/>
                <a:cs typeface="Times New Roman"/>
              </a:rPr>
              <a:t>push</a:t>
            </a:r>
            <a:r>
              <a:rPr lang="es-419">
                <a:latin typeface="Aptos"/>
                <a:cs typeface="Times New Roman"/>
              </a:rPr>
              <a:t> up para el </a:t>
            </a:r>
            <a:r>
              <a:rPr lang="es-419" err="1">
                <a:latin typeface="Aptos"/>
                <a:cs typeface="Times New Roman"/>
              </a:rPr>
              <a:t>deadline</a:t>
            </a:r>
            <a:r>
              <a:rPr lang="es-419">
                <a:latin typeface="Aptos"/>
                <a:cs typeface="Times New Roman"/>
              </a:rPr>
              <a:t> de metas.</a:t>
            </a:r>
          </a:p>
          <a:p>
            <a:pPr marL="0" indent="0">
              <a:buNone/>
            </a:pPr>
            <a:endParaRPr lang="es-419" sz="2400">
              <a:latin typeface="Aptos"/>
              <a:cs typeface="Times New Roman"/>
            </a:endParaRPr>
          </a:p>
          <a:p>
            <a:pPr marL="0" indent="0">
              <a:buNone/>
            </a:pPr>
            <a:r>
              <a:rPr lang="es-ES" sz="2400">
                <a:latin typeface="Aptos"/>
                <a:cs typeface="Times New Roman"/>
              </a:rPr>
              <a:t>Actualmente no se observa en que este desarrollado en la última versión </a:t>
            </a:r>
            <a:r>
              <a:rPr lang="es-ES" sz="2400">
                <a:solidFill>
                  <a:srgbClr val="000000"/>
                </a:solidFill>
                <a:latin typeface="Aptos"/>
                <a:cs typeface="Times New Roman"/>
              </a:rPr>
              <a:t>-&gt; </a:t>
            </a:r>
            <a:r>
              <a:rPr lang="es-ES" sz="2400">
                <a:latin typeface="Aptos"/>
                <a:cs typeface="Times New Roman"/>
              </a:rPr>
              <a:t>Está el mensaje, pero no la notificación en </a:t>
            </a:r>
            <a:r>
              <a:rPr lang="es-ES" sz="2400" err="1">
                <a:latin typeface="Aptos"/>
                <a:cs typeface="Times New Roman"/>
              </a:rPr>
              <a:t>push</a:t>
            </a:r>
            <a:br>
              <a:rPr lang="es-ES" sz="2400">
                <a:latin typeface="Aptos"/>
                <a:cs typeface="Times New Roman"/>
              </a:rPr>
            </a:br>
            <a:endParaRPr lang="es-ES" sz="2400">
              <a:cs typeface="Times New Roman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9EC2F82-1FB0-158F-375B-92030690B90C}"/>
              </a:ext>
            </a:extLst>
          </p:cNvPr>
          <p:cNvSpPr txBox="1"/>
          <p:nvPr/>
        </p:nvSpPr>
        <p:spPr>
          <a:xfrm>
            <a:off x="478971" y="261257"/>
            <a:ext cx="747969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err="1">
                <a:latin typeface="Aptos"/>
              </a:rPr>
              <a:t>Notificaciones</a:t>
            </a:r>
            <a:r>
              <a:rPr lang="en-US" sz="3200" b="1">
                <a:latin typeface="Aptos"/>
              </a:rPr>
              <a:t> </a:t>
            </a:r>
            <a:r>
              <a:rPr lang="en-US" sz="3200" b="1">
                <a:solidFill>
                  <a:srgbClr val="FF0000"/>
                </a:solidFill>
                <a:latin typeface="Aptos"/>
              </a:rPr>
              <a:t>(</a:t>
            </a:r>
            <a:r>
              <a:rPr lang="en-US" sz="3200" b="1" err="1">
                <a:solidFill>
                  <a:srgbClr val="FF0000"/>
                </a:solidFill>
                <a:latin typeface="Aptos"/>
              </a:rPr>
              <a:t>Pendiente</a:t>
            </a:r>
            <a:r>
              <a:rPr lang="en-US" sz="3200" b="1">
                <a:solidFill>
                  <a:srgbClr val="FF0000"/>
                </a:solidFill>
                <a:latin typeface="Aptos"/>
              </a:rPr>
              <a:t> </a:t>
            </a:r>
            <a:r>
              <a:rPr lang="en-US" sz="3200" b="1" err="1">
                <a:solidFill>
                  <a:srgbClr val="FF0000"/>
                </a:solidFill>
                <a:latin typeface="Aptos"/>
              </a:rPr>
              <a:t>testear</a:t>
            </a:r>
            <a:r>
              <a:rPr lang="en-US" sz="3200" b="1">
                <a:solidFill>
                  <a:srgbClr val="FF0000"/>
                </a:solidFill>
                <a:latin typeface="Aptos"/>
              </a:rPr>
              <a:t>)</a:t>
            </a:r>
            <a:endParaRPr lang="en-US" sz="32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03154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3462F-7B5D-9CDC-9C1A-706A0A4CD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5F66C-AE62-6078-727B-6D15EEE8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2974" y="1444979"/>
            <a:ext cx="7687294" cy="3397764"/>
          </a:xfrm>
        </p:spPr>
        <p:txBody>
          <a:bodyPr>
            <a:normAutofit/>
          </a:bodyPr>
          <a:lstStyle/>
          <a:p>
            <a:pPr algn="ctr"/>
            <a:r>
              <a:rPr lang="es-ES"/>
              <a:t>Comentarios nuevos</a:t>
            </a:r>
          </a:p>
        </p:txBody>
      </p:sp>
    </p:spTree>
    <p:extLst>
      <p:ext uri="{BB962C8B-B14F-4D97-AF65-F5344CB8AC3E}">
        <p14:creationId xmlns:p14="http://schemas.microsoft.com/office/powerpoint/2010/main" val="2957104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F33BF-A51F-1844-35F0-D3DCA0CE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Instalación de la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0D449-DABA-DDD5-8B55-0D178F129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2413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Al instalar la app desde cero (tras desinstalarla), no te pide </a:t>
            </a:r>
            <a:r>
              <a:rPr lang="es-ES" err="1"/>
              <a:t>loguearte</a:t>
            </a:r>
            <a:r>
              <a:rPr lang="es-ES"/>
              <a:t> y muestra otros datos (ver video).</a:t>
            </a:r>
          </a:p>
          <a:p>
            <a:r>
              <a:rPr lang="es-ES"/>
              <a:t>Esto sucede incluso luego de </a:t>
            </a:r>
            <a:r>
              <a:rPr lang="es-ES" err="1"/>
              <a:t>loguearte</a:t>
            </a:r>
            <a:r>
              <a:rPr lang="es-ES"/>
              <a:t> con otro usuario y reinstalar la app.</a:t>
            </a:r>
          </a:p>
          <a:p>
            <a:endParaRPr lang="es-ES"/>
          </a:p>
          <a:p>
            <a:pPr marL="0" indent="0">
              <a:buNone/>
            </a:pPr>
            <a:endParaRPr lang="es-PE"/>
          </a:p>
        </p:txBody>
      </p:sp>
      <p:pic>
        <p:nvPicPr>
          <p:cNvPr id="4" name="CF5F2CA7">
            <a:hlinkClick r:id="" action="ppaction://media"/>
            <a:extLst>
              <a:ext uri="{FF2B5EF4-FFF2-40B4-BE49-F238E27FC236}">
                <a16:creationId xmlns:a16="http://schemas.microsoft.com/office/drawing/2014/main" id="{417F371E-4BE8-B8F7-0E02-049FD5972AD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37044" y="497127"/>
            <a:ext cx="2574890" cy="5863745"/>
          </a:xfrm>
          <a:prstGeom prst="rect">
            <a:avLst/>
          </a:prstGeom>
        </p:spPr>
      </p:pic>
      <p:pic>
        <p:nvPicPr>
          <p:cNvPr id="6" name="Gráfico 5" descr="Globos con relleno sólido">
            <a:extLst>
              <a:ext uri="{FF2B5EF4-FFF2-40B4-BE49-F238E27FC236}">
                <a16:creationId xmlns:a16="http://schemas.microsoft.com/office/drawing/2014/main" id="{2789D2A5-213C-28E6-1432-9A7EC0558F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81899" y="-417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515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16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4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BC4D7-AF54-6194-2B33-CB742502D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Registro de salud - Glucosa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1CA91-C9D3-5C45-D0FA-AA412EFBD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477000" cy="435133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s-PE"/>
              <a:t>Para glucosa, aparecen mensajes de advertencia que no están en el Excel de Puntos de contacto:</a:t>
            </a:r>
          </a:p>
          <a:p>
            <a:pPr lvl="1"/>
            <a:r>
              <a:rPr lang="es-PE"/>
              <a:t>Si ingresas valores entre 126-300 (en ayunas)</a:t>
            </a:r>
          </a:p>
          <a:p>
            <a:pPr lvl="1"/>
            <a:r>
              <a:rPr lang="es-PE"/>
              <a:t>Si ingresas valores entre 180-300 (sin ayunas). </a:t>
            </a:r>
          </a:p>
          <a:p>
            <a:endParaRPr lang="es-PE"/>
          </a:p>
          <a:p>
            <a:r>
              <a:rPr lang="es-PE"/>
              <a:t>Los registros con estos valores deben mostrarse en color naranja en el historial, pero sin mensaje de advertencia.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3E89D1-A2BB-73F5-2D4A-44C4369226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46" y="1144588"/>
            <a:ext cx="2209335" cy="5032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8318BD-EBE6-A354-B57F-BE7BE3A0A1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611" y="1144587"/>
            <a:ext cx="2209335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8741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DDFEA-54B6-68DA-708D-72BA0DB74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PHQ-8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DD16A-E857-F987-788E-407291D95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71067" cy="4351338"/>
          </a:xfrm>
        </p:spPr>
        <p:txBody>
          <a:bodyPr/>
          <a:lstStyle/>
          <a:p>
            <a:r>
              <a:rPr lang="es-PE"/>
              <a:t>Eliminar la línea vacía en el historial de registros del PHQ-8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6B7AA9-1D79-E7B9-BD97-7E86ADCDE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616" y="495300"/>
            <a:ext cx="2575931" cy="5867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927331-0078-0702-5B5C-943D6BCE9026}"/>
              </a:ext>
            </a:extLst>
          </p:cNvPr>
          <p:cNvSpPr/>
          <p:nvPr/>
        </p:nvSpPr>
        <p:spPr>
          <a:xfrm>
            <a:off x="7594600" y="2573867"/>
            <a:ext cx="1176867" cy="177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7" name="Gráfico 6" descr="Globos con relleno sólido">
            <a:extLst>
              <a:ext uri="{FF2B5EF4-FFF2-40B4-BE49-F238E27FC236}">
                <a16:creationId xmlns:a16="http://schemas.microsoft.com/office/drawing/2014/main" id="{B3B83764-FFDD-122E-D639-7150FA9F80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1899" y="-417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851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5B70B-AB6D-1B2F-8E64-B04CBC63C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Sincronización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DE693-300B-9799-3546-67352634B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14066" cy="4351338"/>
          </a:xfrm>
        </p:spPr>
        <p:txBody>
          <a:bodyPr/>
          <a:lstStyle/>
          <a:p>
            <a:r>
              <a:rPr lang="es-PE"/>
              <a:t>Al presionar “Actualizar datos” aparece un mensaje de error que dice “metas.0.lugar </a:t>
            </a:r>
            <a:r>
              <a:rPr lang="es-PE" err="1"/>
              <a:t>field</a:t>
            </a:r>
            <a:r>
              <a:rPr lang="es-PE"/>
              <a:t> </a:t>
            </a:r>
            <a:r>
              <a:rPr lang="es-PE" err="1"/>
              <a:t>is</a:t>
            </a:r>
            <a:r>
              <a:rPr lang="es-PE"/>
              <a:t> </a:t>
            </a:r>
            <a:r>
              <a:rPr lang="es-PE" err="1"/>
              <a:t>required</a:t>
            </a:r>
            <a:r>
              <a:rPr lang="es-PE"/>
              <a:t>”</a:t>
            </a:r>
          </a:p>
          <a:p>
            <a:r>
              <a:rPr lang="es-PE"/>
              <a:t>Confirmar que para las metas no se está considerando lugar como dato obligatorio para sincronizar porque va a generar siempre error.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26953F-C5C6-9B47-E54C-8706E65DFF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7933" y="160161"/>
            <a:ext cx="2870200" cy="653767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D12A75-BB87-883A-C3C5-429CDFA7A404}"/>
              </a:ext>
            </a:extLst>
          </p:cNvPr>
          <p:cNvCxnSpPr>
            <a:cxnSpLocks/>
          </p:cNvCxnSpPr>
          <p:nvPr/>
        </p:nvCxnSpPr>
        <p:spPr>
          <a:xfrm>
            <a:off x="8255000" y="5672667"/>
            <a:ext cx="156633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ráfico 5" descr="Globos con relleno sólido">
            <a:extLst>
              <a:ext uri="{FF2B5EF4-FFF2-40B4-BE49-F238E27FC236}">
                <a16:creationId xmlns:a16="http://schemas.microsoft.com/office/drawing/2014/main" id="{22D9FA1C-08BD-8EF1-9FFA-C27A304B2D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81899" y="-417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94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91384AA6-4E69-EE81-4196-01619EADF4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1026" t="5094" r="342" b="-824"/>
          <a:stretch>
            <a:fillRect/>
          </a:stretch>
        </p:blipFill>
        <p:spPr>
          <a:xfrm>
            <a:off x="7727092" y="451690"/>
            <a:ext cx="2841801" cy="616066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A856049-5177-0C22-61DD-DD993D270094}"/>
              </a:ext>
            </a:extLst>
          </p:cNvPr>
          <p:cNvSpPr txBox="1"/>
          <p:nvPr/>
        </p:nvSpPr>
        <p:spPr>
          <a:xfrm>
            <a:off x="1528823" y="1967696"/>
            <a:ext cx="3896888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/>
              <a:t>Al momento de seleccionar "Sincronizar datos" aparece el mensaje de error.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ED86E192-D82F-1714-5DAA-AB3E2E3C948A}"/>
              </a:ext>
            </a:extLst>
          </p:cNvPr>
          <p:cNvCxnSpPr/>
          <p:nvPr/>
        </p:nvCxnSpPr>
        <p:spPr>
          <a:xfrm>
            <a:off x="5093512" y="2937857"/>
            <a:ext cx="2801384" cy="122577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áfico 2" descr="Globos con relleno sólido">
            <a:extLst>
              <a:ext uri="{FF2B5EF4-FFF2-40B4-BE49-F238E27FC236}">
                <a16:creationId xmlns:a16="http://schemas.microsoft.com/office/drawing/2014/main" id="{C2D1D7A4-8814-4D93-3989-A4B18E9B48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1899" y="-417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241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DD444A-956C-9D34-0B84-8E8672E04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Reinstalación y continuidad de los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059368-16C9-D723-FD4E-8AC27491C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Al reinstalar la app, se pierden los datos registrados previamente por el participante (ej. El historial de registros de salud aparece vacío).</a:t>
            </a:r>
          </a:p>
          <a:p>
            <a:endParaRPr lang="es-ES"/>
          </a:p>
          <a:p>
            <a:r>
              <a:rPr lang="es-ES"/>
              <a:t>Es necesario que la app recupere el progreso en las sesiones y los registros de los participantes cuando se reinstala, en caso ocurra algo con el celular (Ej. Se malogra el celular, se lo roban, etc.), y sea necesario reinstalar la app.</a:t>
            </a:r>
          </a:p>
        </p:txBody>
      </p:sp>
    </p:spTree>
    <p:extLst>
      <p:ext uri="{BB962C8B-B14F-4D97-AF65-F5344CB8AC3E}">
        <p14:creationId xmlns:p14="http://schemas.microsoft.com/office/powerpoint/2010/main" val="359282417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49331-0FDB-098B-DA03-710019DCE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6582B9-9F00-CEFB-9916-2C6EC8DD3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2974" y="1444979"/>
            <a:ext cx="7687294" cy="3397764"/>
          </a:xfrm>
        </p:spPr>
        <p:txBody>
          <a:bodyPr>
            <a:normAutofit/>
          </a:bodyPr>
          <a:lstStyle/>
          <a:p>
            <a:pPr algn="ctr"/>
            <a:r>
              <a:rPr lang="es-ES"/>
              <a:t>Correcciones de texto</a:t>
            </a: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2503609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8094C-9898-3996-ADD8-073C5F2DD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Pregunta del día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8DA140E-C019-2774-6DD0-81F824CE4F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067" y="663656"/>
            <a:ext cx="2428106" cy="5530687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6087550-E15A-26E9-A01B-F138C31D1603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635846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Quitar “módulo X” en el título de la caja para la pregunta del día.</a:t>
            </a:r>
          </a:p>
          <a:p>
            <a:endParaRPr lang="es-PE"/>
          </a:p>
          <a:p>
            <a:endParaRPr lang="es-PE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2AE30B-55BE-C737-FA52-DA5F58FCD3BB}"/>
              </a:ext>
            </a:extLst>
          </p:cNvPr>
          <p:cNvCxnSpPr/>
          <p:nvPr/>
        </p:nvCxnSpPr>
        <p:spPr>
          <a:xfrm>
            <a:off x="9076267" y="2370667"/>
            <a:ext cx="4572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áfico 3" descr="Globos con relleno sólido">
            <a:extLst>
              <a:ext uri="{FF2B5EF4-FFF2-40B4-BE49-F238E27FC236}">
                <a16:creationId xmlns:a16="http://schemas.microsoft.com/office/drawing/2014/main" id="{4DCA7ED5-6E91-2C69-60ED-64C40817D7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1899" y="-417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400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6BF7A-A52D-F8F1-8A94-835021E6F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Mensajes emergentes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7916B-8757-1748-E2A3-4FAF545AC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6453" y="1825624"/>
            <a:ext cx="4021038" cy="4351338"/>
          </a:xfrm>
        </p:spPr>
        <p:txBody>
          <a:bodyPr>
            <a:normAutofit/>
          </a:bodyPr>
          <a:lstStyle/>
          <a:p>
            <a:r>
              <a:rPr lang="es-ES"/>
              <a:t>Quitar los títulos generales en diferentes mensajes emergentes y mover el texto a esa posición para que tenga mayor tamaño (Información / Mensaje / Confirmar pedido de ayuda / Confirmar registro)</a:t>
            </a:r>
          </a:p>
          <a:p>
            <a:endParaRPr lang="es-PE"/>
          </a:p>
          <a:p>
            <a:endParaRPr lang="es-P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98C810-DBD9-B556-B525-3F5AD83048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248" y="1825625"/>
            <a:ext cx="1821830" cy="414972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BA2F597-729D-FD85-1585-C444095FAB14}"/>
              </a:ext>
            </a:extLst>
          </p:cNvPr>
          <p:cNvCxnSpPr>
            <a:cxnSpLocks/>
          </p:cNvCxnSpPr>
          <p:nvPr/>
        </p:nvCxnSpPr>
        <p:spPr>
          <a:xfrm>
            <a:off x="4271914" y="3528784"/>
            <a:ext cx="62877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rrow: Curved Right 7">
            <a:extLst>
              <a:ext uri="{FF2B5EF4-FFF2-40B4-BE49-F238E27FC236}">
                <a16:creationId xmlns:a16="http://schemas.microsoft.com/office/drawing/2014/main" id="{AE7778F4-283D-0CFB-0A14-8F8AECEB4AEE}"/>
              </a:ext>
            </a:extLst>
          </p:cNvPr>
          <p:cNvSpPr/>
          <p:nvPr/>
        </p:nvSpPr>
        <p:spPr>
          <a:xfrm rot="10453952">
            <a:off x="5582085" y="3498798"/>
            <a:ext cx="196581" cy="397899"/>
          </a:xfrm>
          <a:prstGeom prst="curved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40650-9906-28CF-BD9D-A0E0FF3843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362" y="1825625"/>
            <a:ext cx="1821830" cy="414972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BA8C042-78B6-0EF8-65D3-CED12D63D6FD}"/>
              </a:ext>
            </a:extLst>
          </p:cNvPr>
          <p:cNvCxnSpPr>
            <a:cxnSpLocks/>
          </p:cNvCxnSpPr>
          <p:nvPr/>
        </p:nvCxnSpPr>
        <p:spPr>
          <a:xfrm>
            <a:off x="6062125" y="3528784"/>
            <a:ext cx="115993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rrow: Curved Right 12">
            <a:extLst>
              <a:ext uri="{FF2B5EF4-FFF2-40B4-BE49-F238E27FC236}">
                <a16:creationId xmlns:a16="http://schemas.microsoft.com/office/drawing/2014/main" id="{67956513-7080-D95A-FF41-18F2543C99F5}"/>
              </a:ext>
            </a:extLst>
          </p:cNvPr>
          <p:cNvSpPr/>
          <p:nvPr/>
        </p:nvSpPr>
        <p:spPr>
          <a:xfrm rot="10453952">
            <a:off x="7351622" y="3493717"/>
            <a:ext cx="196581" cy="397899"/>
          </a:xfrm>
          <a:prstGeom prst="curved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BA0BFE7-77C2-F265-67AA-CE3656AD97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8679" y="1825624"/>
            <a:ext cx="1821830" cy="4149726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5CC291E-1FA2-8317-115B-7D5269603E0E}"/>
              </a:ext>
            </a:extLst>
          </p:cNvPr>
          <p:cNvCxnSpPr>
            <a:cxnSpLocks/>
          </p:cNvCxnSpPr>
          <p:nvPr/>
        </p:nvCxnSpPr>
        <p:spPr>
          <a:xfrm>
            <a:off x="8238060" y="2932268"/>
            <a:ext cx="70272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Arrow: Curved Right 23">
            <a:extLst>
              <a:ext uri="{FF2B5EF4-FFF2-40B4-BE49-F238E27FC236}">
                <a16:creationId xmlns:a16="http://schemas.microsoft.com/office/drawing/2014/main" id="{2505DB2A-470C-1E97-B498-5DD279AD30B5}"/>
              </a:ext>
            </a:extLst>
          </p:cNvPr>
          <p:cNvSpPr/>
          <p:nvPr/>
        </p:nvSpPr>
        <p:spPr>
          <a:xfrm rot="10453952">
            <a:off x="9527557" y="2897201"/>
            <a:ext cx="196581" cy="397899"/>
          </a:xfrm>
          <a:prstGeom prst="curved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747DBE5-B237-A7FB-DB52-C141694619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792" y="1825624"/>
            <a:ext cx="1821831" cy="4149726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6701699-82FF-35ED-59E5-88A3DA68C57F}"/>
              </a:ext>
            </a:extLst>
          </p:cNvPr>
          <p:cNvCxnSpPr>
            <a:cxnSpLocks/>
          </p:cNvCxnSpPr>
          <p:nvPr/>
        </p:nvCxnSpPr>
        <p:spPr>
          <a:xfrm>
            <a:off x="10067615" y="3547320"/>
            <a:ext cx="70272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Arrow: Curved Right 28">
            <a:extLst>
              <a:ext uri="{FF2B5EF4-FFF2-40B4-BE49-F238E27FC236}">
                <a16:creationId xmlns:a16="http://schemas.microsoft.com/office/drawing/2014/main" id="{82B66591-C79B-CCEA-AC2C-CC5E4EE46563}"/>
              </a:ext>
            </a:extLst>
          </p:cNvPr>
          <p:cNvSpPr/>
          <p:nvPr/>
        </p:nvSpPr>
        <p:spPr>
          <a:xfrm rot="10453952">
            <a:off x="11357112" y="3512253"/>
            <a:ext cx="196581" cy="397899"/>
          </a:xfrm>
          <a:prstGeom prst="curved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97DFA0-F8BE-DFF9-97BB-017BD1F4148D}"/>
              </a:ext>
            </a:extLst>
          </p:cNvPr>
          <p:cNvSpPr txBox="1"/>
          <p:nvPr/>
        </p:nvSpPr>
        <p:spPr>
          <a:xfrm>
            <a:off x="4086019" y="6005537"/>
            <a:ext cx="3424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/>
              <a:t>Mediciones de glucosa y presión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DA22A3-417C-E573-EBD4-A607B5606CB2}"/>
              </a:ext>
            </a:extLst>
          </p:cNvPr>
          <p:cNvSpPr txBox="1"/>
          <p:nvPr/>
        </p:nvSpPr>
        <p:spPr>
          <a:xfrm>
            <a:off x="8148903" y="6010299"/>
            <a:ext cx="3424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/>
              <a:t>PHQ-8</a:t>
            </a:r>
          </a:p>
        </p:txBody>
      </p:sp>
    </p:spTree>
    <p:extLst>
      <p:ext uri="{BB962C8B-B14F-4D97-AF65-F5344CB8AC3E}">
        <p14:creationId xmlns:p14="http://schemas.microsoft.com/office/powerpoint/2010/main" val="13257937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A7313-2F64-9654-CE7C-685B23080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0146F-4AE0-4784-A688-ED7DC2CB6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Mensajes emergentes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58BB0-0177-37DC-FA78-715DDB5CF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681" y="1825624"/>
            <a:ext cx="5299663" cy="4351338"/>
          </a:xfrm>
        </p:spPr>
        <p:txBody>
          <a:bodyPr>
            <a:normAutofit/>
          </a:bodyPr>
          <a:lstStyle/>
          <a:p>
            <a:r>
              <a:rPr lang="es-ES"/>
              <a:t>Quitar los títulos generales en diferentes mensajes emergentes y mover el texto a esa posición para que tenga mayor tamaño (Información / Mensaje / Confirmar pedido de ayuda / Confirmar registro)</a:t>
            </a:r>
          </a:p>
          <a:p>
            <a:endParaRPr lang="es-PE"/>
          </a:p>
          <a:p>
            <a:endParaRPr lang="es-PE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3926412-7044-89E0-F922-67DED9FD5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876" y="1825624"/>
            <a:ext cx="1821831" cy="4149726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7D046D2-9D33-3F78-6331-7BE0E47DE616}"/>
              </a:ext>
            </a:extLst>
          </p:cNvPr>
          <p:cNvCxnSpPr>
            <a:cxnSpLocks/>
          </p:cNvCxnSpPr>
          <p:nvPr/>
        </p:nvCxnSpPr>
        <p:spPr>
          <a:xfrm>
            <a:off x="6287992" y="3474135"/>
            <a:ext cx="115993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Arrow: Curved Right 17">
            <a:extLst>
              <a:ext uri="{FF2B5EF4-FFF2-40B4-BE49-F238E27FC236}">
                <a16:creationId xmlns:a16="http://schemas.microsoft.com/office/drawing/2014/main" id="{59D0FA26-75EC-F714-7597-D92CB9DDF37D}"/>
              </a:ext>
            </a:extLst>
          </p:cNvPr>
          <p:cNvSpPr/>
          <p:nvPr/>
        </p:nvSpPr>
        <p:spPr>
          <a:xfrm rot="10453952">
            <a:off x="7577489" y="3439068"/>
            <a:ext cx="196581" cy="397899"/>
          </a:xfrm>
          <a:prstGeom prst="curved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8AE0B1-C220-AC08-2008-FCF0E70803D7}"/>
              </a:ext>
            </a:extLst>
          </p:cNvPr>
          <p:cNvCxnSpPr>
            <a:cxnSpLocks/>
          </p:cNvCxnSpPr>
          <p:nvPr/>
        </p:nvCxnSpPr>
        <p:spPr>
          <a:xfrm>
            <a:off x="6194858" y="3635002"/>
            <a:ext cx="38721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1F2775E-0466-0185-B73E-F71724373B0C}"/>
              </a:ext>
            </a:extLst>
          </p:cNvPr>
          <p:cNvSpPr txBox="1"/>
          <p:nvPr/>
        </p:nvSpPr>
        <p:spPr>
          <a:xfrm>
            <a:off x="5997875" y="6018765"/>
            <a:ext cx="1821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/>
              <a:t>Pedido de ayuda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942D96-1BC1-5A18-D94F-1029D045A6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7830" y="1825624"/>
            <a:ext cx="1821831" cy="414972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5B5FFE-7A82-5056-8E16-49D7C72CC74D}"/>
              </a:ext>
            </a:extLst>
          </p:cNvPr>
          <p:cNvCxnSpPr>
            <a:cxnSpLocks/>
          </p:cNvCxnSpPr>
          <p:nvPr/>
        </p:nvCxnSpPr>
        <p:spPr>
          <a:xfrm>
            <a:off x="9262533" y="3429000"/>
            <a:ext cx="55033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Arrow: Curved Right 10">
            <a:extLst>
              <a:ext uri="{FF2B5EF4-FFF2-40B4-BE49-F238E27FC236}">
                <a16:creationId xmlns:a16="http://schemas.microsoft.com/office/drawing/2014/main" id="{E43B54F0-9CF4-4525-F65C-09BF22D02942}"/>
              </a:ext>
            </a:extLst>
          </p:cNvPr>
          <p:cNvSpPr/>
          <p:nvPr/>
        </p:nvSpPr>
        <p:spPr>
          <a:xfrm rot="10453952">
            <a:off x="10161481" y="3371002"/>
            <a:ext cx="217170" cy="465101"/>
          </a:xfrm>
          <a:prstGeom prst="curved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B5E9D8-CD02-7623-5393-EEA0CE19601F}"/>
              </a:ext>
            </a:extLst>
          </p:cNvPr>
          <p:cNvSpPr txBox="1"/>
          <p:nvPr/>
        </p:nvSpPr>
        <p:spPr>
          <a:xfrm>
            <a:off x="8060237" y="5975350"/>
            <a:ext cx="2894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/>
              <a:t>Retroalimentación cuando no cumples la meta</a:t>
            </a:r>
          </a:p>
        </p:txBody>
      </p:sp>
    </p:spTree>
    <p:extLst>
      <p:ext uri="{BB962C8B-B14F-4D97-AF65-F5344CB8AC3E}">
        <p14:creationId xmlns:p14="http://schemas.microsoft.com/office/powerpoint/2010/main" val="1867332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2A3E9-CF79-9242-C129-30D841D04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PHQ-8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0424E-146A-3CB7-DE50-4467D08FB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34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PE"/>
              <a:t>El mensaje tras sumar un puntaje alto en el PHQ tiene un error.</a:t>
            </a:r>
          </a:p>
          <a:p>
            <a:endParaRPr lang="es-PE"/>
          </a:p>
          <a:p>
            <a:r>
              <a:rPr lang="es-PE"/>
              <a:t>Dice “Gracias por responder </a:t>
            </a:r>
            <a:r>
              <a:rPr lang="es-PE">
                <a:solidFill>
                  <a:srgbClr val="FF0000"/>
                </a:solidFill>
              </a:rPr>
              <a:t>esta Pregunta del día</a:t>
            </a:r>
            <a:r>
              <a:rPr lang="es-PE"/>
              <a:t>”. Debería decir “Gracias por responder </a:t>
            </a:r>
            <a:r>
              <a:rPr lang="es-PE">
                <a:solidFill>
                  <a:schemeClr val="accent6"/>
                </a:solidFill>
                <a:highlight>
                  <a:srgbClr val="FFFF00"/>
                </a:highlight>
              </a:rPr>
              <a:t>este cuestionario</a:t>
            </a:r>
            <a:r>
              <a:rPr lang="es-PE"/>
              <a:t>”.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F95FD8-A575-895F-636E-7945A3DC6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987" y="1261534"/>
            <a:ext cx="2230708" cy="508105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59C34C-B5EB-B337-E3A1-46BE7A0760AD}"/>
              </a:ext>
            </a:extLst>
          </p:cNvPr>
          <p:cNvCxnSpPr>
            <a:cxnSpLocks/>
          </p:cNvCxnSpPr>
          <p:nvPr/>
        </p:nvCxnSpPr>
        <p:spPr>
          <a:xfrm>
            <a:off x="8492067" y="2370669"/>
            <a:ext cx="93027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Gráfico 4" descr="Globos con relleno sólido">
            <a:extLst>
              <a:ext uri="{FF2B5EF4-FFF2-40B4-BE49-F238E27FC236}">
                <a16:creationId xmlns:a16="http://schemas.microsoft.com/office/drawing/2014/main" id="{D3F19388-1901-52AC-C5E7-A65603EFD8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1899" y="-417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311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6ED3ABA0-E8F1-7A70-4EB3-3EF3C5AFDB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4834" y="285436"/>
            <a:ext cx="2700272" cy="614298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31F779D-1ACD-7AA8-8943-7554632EC2DE}"/>
              </a:ext>
            </a:extLst>
          </p:cNvPr>
          <p:cNvSpPr txBox="1"/>
          <p:nvPr/>
        </p:nvSpPr>
        <p:spPr>
          <a:xfrm>
            <a:off x="1096727" y="2858998"/>
            <a:ext cx="4905891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2800"/>
              <a:t>Los botones deben decir:</a:t>
            </a:r>
            <a:br>
              <a:rPr lang="es-ES" sz="2800"/>
            </a:br>
            <a:br>
              <a:rPr lang="es-ES" sz="2800"/>
            </a:br>
            <a:r>
              <a:rPr lang="es-ES" sz="2800"/>
              <a:t>"Cancelar"    "Confirmar"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44D2828-0DCE-620C-EAF6-3BBD29EB699F}"/>
              </a:ext>
            </a:extLst>
          </p:cNvPr>
          <p:cNvSpPr/>
          <p:nvPr/>
        </p:nvSpPr>
        <p:spPr>
          <a:xfrm>
            <a:off x="9481651" y="3546001"/>
            <a:ext cx="1465569" cy="53530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C20E057-EAB2-5AF7-8677-DCB6812B62A7}"/>
              </a:ext>
            </a:extLst>
          </p:cNvPr>
          <p:cNvCxnSpPr/>
          <p:nvPr/>
        </p:nvCxnSpPr>
        <p:spPr>
          <a:xfrm>
            <a:off x="6080388" y="3413360"/>
            <a:ext cx="3278377" cy="4353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68F63DF7-FC18-8610-CDC7-9E27EE3B0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PE"/>
              <a:t>Pedido de ayuda a la promotora</a:t>
            </a:r>
          </a:p>
        </p:txBody>
      </p:sp>
      <p:pic>
        <p:nvPicPr>
          <p:cNvPr id="5" name="Gráfico 4" descr="Globos con relleno sólido">
            <a:extLst>
              <a:ext uri="{FF2B5EF4-FFF2-40B4-BE49-F238E27FC236}">
                <a16:creationId xmlns:a16="http://schemas.microsoft.com/office/drawing/2014/main" id="{053700D4-6565-2483-172C-1F7FA347BA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1899" y="-417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744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44EAF-1834-AA5B-61B8-BC215251D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Pedido de ayuda a la promotora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46EE7-4A9B-7D7A-C469-766D4E54D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43800" cy="4351338"/>
          </a:xfrm>
        </p:spPr>
        <p:txBody>
          <a:bodyPr/>
          <a:lstStyle/>
          <a:p>
            <a:r>
              <a:rPr lang="es-PE"/>
              <a:t>Colocar el mensaje en dos líneas separadas y corregir el texto:</a:t>
            </a:r>
          </a:p>
          <a:p>
            <a:endParaRPr lang="es-PE"/>
          </a:p>
          <a:p>
            <a:pPr marL="0" indent="0">
              <a:buNone/>
            </a:pPr>
            <a:r>
              <a:rPr lang="es-PE"/>
              <a:t>“Enviado con éxito.</a:t>
            </a:r>
          </a:p>
          <a:p>
            <a:pPr marL="0" indent="0">
              <a:buNone/>
            </a:pPr>
            <a:r>
              <a:rPr lang="es-PE"/>
              <a:t>Tu promotora te contactará pronto.”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4CB5E1-9386-CA38-1F62-C85B68D6D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200" y="1398000"/>
            <a:ext cx="2098081" cy="4778963"/>
          </a:xfrm>
          <a:prstGeom prst="rect">
            <a:avLst/>
          </a:prstGeom>
        </p:spPr>
      </p:pic>
      <p:pic>
        <p:nvPicPr>
          <p:cNvPr id="6" name="Gráfico 5" descr="Globos con relleno sólido">
            <a:extLst>
              <a:ext uri="{FF2B5EF4-FFF2-40B4-BE49-F238E27FC236}">
                <a16:creationId xmlns:a16="http://schemas.microsoft.com/office/drawing/2014/main" id="{6BF6AAA4-DE83-B355-5671-CFA06DD29C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1899" y="-417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347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DE0A7-610D-B4B5-D255-2850E7DA4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4" y="454"/>
            <a:ext cx="8545286" cy="683306"/>
          </a:xfrm>
        </p:spPr>
        <p:txBody>
          <a:bodyPr>
            <a:normAutofit fontScale="90000"/>
          </a:bodyPr>
          <a:lstStyle/>
          <a:p>
            <a:r>
              <a:rPr lang="es-ES"/>
              <a:t>Cuestionario – PHQ8</a:t>
            </a:r>
          </a:p>
        </p:txBody>
      </p:sp>
      <p:pic>
        <p:nvPicPr>
          <p:cNvPr id="4" name="Imagen 3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345CE2C6-B4F3-D36F-28DA-1AE743BDDD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32" r="-239" b="7231"/>
          <a:stretch>
            <a:fillRect/>
          </a:stretch>
        </p:blipFill>
        <p:spPr>
          <a:xfrm>
            <a:off x="327739" y="908639"/>
            <a:ext cx="2286606" cy="4558355"/>
          </a:xfrm>
          <a:prstGeom prst="rect">
            <a:avLst/>
          </a:prstGeom>
        </p:spPr>
      </p:pic>
      <p:pic>
        <p:nvPicPr>
          <p:cNvPr id="5" name="Imagen 4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9025F919-7F6D-20A5-BECA-1B8F1F13C7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0" t="4458" r="-484" b="7219"/>
          <a:stretch>
            <a:fillRect/>
          </a:stretch>
        </p:blipFill>
        <p:spPr>
          <a:xfrm>
            <a:off x="5792328" y="999308"/>
            <a:ext cx="2262786" cy="452878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80BC674-7E47-F7A4-8822-F4B25587DE22}"/>
              </a:ext>
            </a:extLst>
          </p:cNvPr>
          <p:cNvSpPr txBox="1"/>
          <p:nvPr/>
        </p:nvSpPr>
        <p:spPr>
          <a:xfrm>
            <a:off x="3045823" y="1632857"/>
            <a:ext cx="275082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200" dirty="0"/>
              <a:t>Tiene poco apetit</a:t>
            </a:r>
            <a:r>
              <a:rPr lang="es-ES" sz="1200"/>
              <a:t>o o come mucho</a:t>
            </a:r>
            <a:r>
              <a:rPr lang="es-ES" sz="120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91CFFFE-342E-AA9E-AA29-8045B2FC60A7}"/>
              </a:ext>
            </a:extLst>
          </p:cNvPr>
          <p:cNvSpPr txBox="1"/>
          <p:nvPr/>
        </p:nvSpPr>
        <p:spPr>
          <a:xfrm>
            <a:off x="3043646" y="3375659"/>
            <a:ext cx="254072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1200" dirty="0"/>
              <a:t>Te sientes mal contigo mismo/a</a:t>
            </a:r>
            <a:r>
              <a:rPr lang="es-ES" sz="1200" dirty="0">
                <a:solidFill>
                  <a:srgbClr val="FF0000"/>
                </a:solidFill>
              </a:rPr>
              <a:t>, o que</a:t>
            </a:r>
            <a:r>
              <a:rPr lang="es-ES" sz="1200" dirty="0"/>
              <a:t> eres un fracaso o que te has </a:t>
            </a:r>
            <a:r>
              <a:rPr lang="es-ES" sz="1200"/>
              <a:t>decepcionado</a:t>
            </a:r>
            <a:r>
              <a:rPr lang="es-ES" sz="1200" dirty="0"/>
              <a:t> a ti mismo/a o con tu familia</a:t>
            </a:r>
            <a:r>
              <a:rPr lang="es-ES" sz="1200" dirty="0">
                <a:solidFill>
                  <a:srgbClr val="FF0000"/>
                </a:solidFill>
              </a:rPr>
              <a:t>.</a:t>
            </a:r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ECA3ECC-D9F3-4564-5385-4FCE8D1C9EF8}"/>
              </a:ext>
            </a:extLst>
          </p:cNvPr>
          <p:cNvSpPr txBox="1"/>
          <p:nvPr/>
        </p:nvSpPr>
        <p:spPr>
          <a:xfrm>
            <a:off x="8818518" y="1505491"/>
            <a:ext cx="308283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1200" dirty="0">
                <a:solidFill>
                  <a:srgbClr val="000000"/>
                </a:solidFill>
                <a:ea typeface="+mn-lt"/>
                <a:cs typeface="+mn-lt"/>
              </a:rPr>
              <a:t>Problemas para concentrarte en </a:t>
            </a:r>
            <a:r>
              <a:rPr lang="es-ES" sz="1200" dirty="0">
                <a:solidFill>
                  <a:srgbClr val="FF0000"/>
                </a:solidFill>
                <a:ea typeface="+mn-lt"/>
                <a:cs typeface="+mn-lt"/>
              </a:rPr>
              <a:t>actividades</a:t>
            </a:r>
            <a:r>
              <a:rPr lang="es-ES" sz="1200" dirty="0">
                <a:solidFill>
                  <a:srgbClr val="000000"/>
                </a:solidFill>
                <a:ea typeface="+mn-lt"/>
                <a:cs typeface="+mn-lt"/>
              </a:rPr>
              <a:t> como leer el periódico o ver la  </a:t>
            </a:r>
            <a:r>
              <a:rPr lang="es-ES" sz="1200">
                <a:solidFill>
                  <a:srgbClr val="000000"/>
                </a:solidFill>
                <a:ea typeface="+mn-lt"/>
                <a:cs typeface="+mn-lt"/>
              </a:rPr>
              <a:t>televisión</a:t>
            </a:r>
            <a:r>
              <a:rPr lang="es-ES" sz="1200">
                <a:solidFill>
                  <a:srgbClr val="FF0000"/>
                </a:solidFill>
                <a:ea typeface="+mn-lt"/>
                <a:cs typeface="+mn-lt"/>
              </a:rPr>
              <a:t>.</a:t>
            </a:r>
            <a:endParaRPr lang="es-ES" sz="1200">
              <a:solidFill>
                <a:srgbClr val="FF000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F65092A-0B16-E735-0124-2A2FCE02B9F6}"/>
              </a:ext>
            </a:extLst>
          </p:cNvPr>
          <p:cNvSpPr txBox="1"/>
          <p:nvPr/>
        </p:nvSpPr>
        <p:spPr>
          <a:xfrm>
            <a:off x="8817429" y="3374571"/>
            <a:ext cx="3086101" cy="7600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1275"/>
              </a:lnSpc>
            </a:pPr>
            <a:r>
              <a:rPr lang="es-ES" sz="1200" dirty="0">
                <a:latin typeface="Aptos"/>
                <a:ea typeface="Arial"/>
                <a:cs typeface="Arial"/>
              </a:rPr>
              <a:t>¿Se mueve o habla tan despacio que otras personas podrían haberlo notado? ​¿O está tan inquieto/a que se ha estado moviendo mucho más de lo habitua</a:t>
            </a:r>
            <a:r>
              <a:rPr lang="es-ES" sz="1200">
                <a:latin typeface="Aptos"/>
                <a:ea typeface="Arial"/>
                <a:cs typeface="Arial"/>
              </a:rPr>
              <a:t>l?</a:t>
            </a:r>
            <a:endParaRPr lang="es-ES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3EFA09DC-8498-FA54-D39F-0C5290861A41}"/>
              </a:ext>
            </a:extLst>
          </p:cNvPr>
          <p:cNvCxnSpPr/>
          <p:nvPr/>
        </p:nvCxnSpPr>
        <p:spPr>
          <a:xfrm>
            <a:off x="7805056" y="1654628"/>
            <a:ext cx="1023257" cy="1088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698F077D-C407-1E54-81EA-06B1BAD68FD6}"/>
              </a:ext>
            </a:extLst>
          </p:cNvPr>
          <p:cNvCxnSpPr>
            <a:cxnSpLocks/>
          </p:cNvCxnSpPr>
          <p:nvPr/>
        </p:nvCxnSpPr>
        <p:spPr>
          <a:xfrm>
            <a:off x="7794170" y="3717471"/>
            <a:ext cx="1023257" cy="1088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EE9EBA2C-8C36-98E4-391C-849EF11B0C9B}"/>
              </a:ext>
            </a:extLst>
          </p:cNvPr>
          <p:cNvCxnSpPr>
            <a:cxnSpLocks/>
          </p:cNvCxnSpPr>
          <p:nvPr/>
        </p:nvCxnSpPr>
        <p:spPr>
          <a:xfrm>
            <a:off x="2394855" y="1725385"/>
            <a:ext cx="653143" cy="2177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5D19BA2B-50F3-3195-A691-728E6D9F051C}"/>
              </a:ext>
            </a:extLst>
          </p:cNvPr>
          <p:cNvCxnSpPr>
            <a:cxnSpLocks/>
          </p:cNvCxnSpPr>
          <p:nvPr/>
        </p:nvCxnSpPr>
        <p:spPr>
          <a:xfrm>
            <a:off x="2394855" y="3641270"/>
            <a:ext cx="653143" cy="2177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CF9658F-F957-276F-4F8C-41219B3BD35D}"/>
              </a:ext>
            </a:extLst>
          </p:cNvPr>
          <p:cNvSpPr txBox="1"/>
          <p:nvPr/>
        </p:nvSpPr>
        <p:spPr>
          <a:xfrm>
            <a:off x="2841172" y="5949042"/>
            <a:ext cx="59871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dirty="0">
                <a:solidFill>
                  <a:srgbClr val="FF0000"/>
                </a:solidFill>
              </a:rPr>
              <a:t>Por favor, no olvidar los puntos finales (.) en </a:t>
            </a:r>
            <a:r>
              <a:rPr lang="es-ES">
                <a:solidFill>
                  <a:srgbClr val="FF0000"/>
                </a:solidFill>
              </a:rPr>
              <a:t>las demás preguntas del PHQ8</a:t>
            </a:r>
            <a:endParaRPr lang="es-ES" dirty="0">
              <a:solidFill>
                <a:srgbClr val="FF0000"/>
              </a:solidFill>
            </a:endParaRPr>
          </a:p>
        </p:txBody>
      </p:sp>
      <p:pic>
        <p:nvPicPr>
          <p:cNvPr id="15" name="Gráfico 14" descr="Globos con relleno sólido">
            <a:extLst>
              <a:ext uri="{FF2B5EF4-FFF2-40B4-BE49-F238E27FC236}">
                <a16:creationId xmlns:a16="http://schemas.microsoft.com/office/drawing/2014/main" id="{B49A4610-C48B-9FC3-EC1F-E343ABE4C3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81899" y="-417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773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033D8-62B5-B46F-8C2D-BB5CA010E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F0516D-6D8E-9D95-BD5E-99C594BBE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125" y="2766144"/>
            <a:ext cx="6245525" cy="1325563"/>
          </a:xfrm>
        </p:spPr>
        <p:txBody>
          <a:bodyPr>
            <a:normAutofit/>
          </a:bodyPr>
          <a:lstStyle/>
          <a:p>
            <a:pPr algn="ctr"/>
            <a:r>
              <a:rPr lang="es-ES"/>
              <a:t>Consultas para el equipo tecnológico</a:t>
            </a:r>
          </a:p>
        </p:txBody>
      </p:sp>
    </p:spTree>
    <p:extLst>
      <p:ext uri="{BB962C8B-B14F-4D97-AF65-F5344CB8AC3E}">
        <p14:creationId xmlns:p14="http://schemas.microsoft.com/office/powerpoint/2010/main" val="1229672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87CD3-C094-06E7-100B-C42763574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A500E8-C276-BD3D-0F60-18B21760C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98" y="1497365"/>
            <a:ext cx="7223349" cy="315296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AutoNum type="arabicPeriod"/>
            </a:pPr>
            <a:r>
              <a:rPr lang="es-419" sz="1800"/>
              <a:t>Añadir en el Menú principal el botón: "Mis contenidos favoritos"</a:t>
            </a:r>
            <a:endParaRPr lang="es-ES"/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419" sz="1400"/>
              <a:t>Botón: "Marcador de guardado" --&gt;  </a:t>
            </a:r>
          </a:p>
          <a:p>
            <a:pPr marL="0" indent="0">
              <a:buNone/>
            </a:pPr>
            <a:endParaRPr lang="es-419" sz="1800"/>
          </a:p>
          <a:p>
            <a:pPr marL="0" indent="0">
              <a:buNone/>
            </a:pPr>
            <a:r>
              <a:rPr lang="es-419" sz="1800"/>
              <a:t>2. Cuando el participante seleccione el recurso como favorito, debe emerger una pantalla que diga:</a:t>
            </a:r>
          </a:p>
          <a:p>
            <a:pPr marL="0" indent="0" algn="ctr">
              <a:buNone/>
            </a:pPr>
            <a:r>
              <a:rPr lang="es-419" sz="1800" b="1"/>
              <a:t>"Guardado en "Mis contenidos favoritos"</a:t>
            </a:r>
          </a:p>
          <a:p>
            <a:pPr marL="0" indent="0" algn="ctr">
              <a:buNone/>
            </a:pPr>
            <a:endParaRPr lang="es-419" sz="1800" b="1"/>
          </a:p>
          <a:p>
            <a:pPr marL="0" indent="0">
              <a:buNone/>
            </a:pPr>
            <a:r>
              <a:rPr lang="es-419" sz="1800"/>
              <a:t>3. El ícono de          debe aparecer </a:t>
            </a:r>
            <a:r>
              <a:rPr lang="es-419" sz="1800" b="1" u="sng"/>
              <a:t>al lado del recurso que marcó</a:t>
            </a:r>
            <a:r>
              <a:rPr lang="es-419" sz="1800"/>
              <a:t> como favorito, no debe ir por sesión.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77C3CD1-A8DA-F5D9-C068-C32CB5AA61D8}"/>
              </a:ext>
            </a:extLst>
          </p:cNvPr>
          <p:cNvSpPr txBox="1"/>
          <p:nvPr/>
        </p:nvSpPr>
        <p:spPr>
          <a:xfrm>
            <a:off x="228600" y="195943"/>
            <a:ext cx="6929437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419" sz="3200" b="1" baseline="0" err="1">
                <a:highlight>
                  <a:srgbClr val="FFFF00"/>
                </a:highlight>
                <a:latin typeface="Aptos"/>
              </a:rPr>
              <a:t>Bookmark</a:t>
            </a:r>
            <a:r>
              <a:rPr lang="es-419" sz="3200" b="1" baseline="0">
                <a:highlight>
                  <a:srgbClr val="FFFF00"/>
                </a:highlight>
                <a:latin typeface="Aptos"/>
              </a:rPr>
              <a:t> </a:t>
            </a:r>
            <a:r>
              <a:rPr lang="es-419" sz="3200" b="1" baseline="0" err="1">
                <a:highlight>
                  <a:srgbClr val="FFFF00"/>
                </a:highlight>
                <a:latin typeface="Aptos"/>
              </a:rPr>
              <a:t>feature</a:t>
            </a:r>
            <a:r>
              <a:rPr lang="es-419" sz="3200" b="1">
                <a:highlight>
                  <a:srgbClr val="FFFF00"/>
                </a:highlight>
                <a:latin typeface="Aptos"/>
              </a:rPr>
              <a:t> </a:t>
            </a:r>
            <a:r>
              <a:rPr lang="es-419" sz="3200" b="1">
                <a:solidFill>
                  <a:srgbClr val="FF0000"/>
                </a:solidFill>
                <a:highlight>
                  <a:srgbClr val="FFFF00"/>
                </a:highlight>
                <a:latin typeface="Aptos"/>
              </a:rPr>
              <a:t>(Actualización)</a:t>
            </a:r>
            <a:endParaRPr lang="es-ES" sz="200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algn="ctr"/>
            <a:endParaRPr lang="es-ES" sz="2000"/>
          </a:p>
        </p:txBody>
      </p:sp>
      <p:pic>
        <p:nvPicPr>
          <p:cNvPr id="5" name="Imagen 4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F10EA89A-F580-0688-77BC-2A381E4DF6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617" r="-276" b="6167"/>
          <a:stretch>
            <a:fillRect/>
          </a:stretch>
        </p:blipFill>
        <p:spPr>
          <a:xfrm>
            <a:off x="8498863" y="403667"/>
            <a:ext cx="3019123" cy="6049895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552C059-0304-D298-DE76-088E5D626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3815" y="1883479"/>
            <a:ext cx="542926" cy="531020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DF837D5-9BDC-CB93-6E77-F6BF5B37B67F}"/>
              </a:ext>
            </a:extLst>
          </p:cNvPr>
          <p:cNvCxnSpPr/>
          <p:nvPr/>
        </p:nvCxnSpPr>
        <p:spPr>
          <a:xfrm>
            <a:off x="6798467" y="1769425"/>
            <a:ext cx="1940719" cy="229757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E3F40294-525B-7494-0E90-DFBD83DEF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236" y="3795800"/>
            <a:ext cx="376776" cy="370599"/>
          </a:xfrm>
          <a:prstGeom prst="rect">
            <a:avLst/>
          </a:prstGeom>
        </p:spPr>
      </p:pic>
      <p:pic>
        <p:nvPicPr>
          <p:cNvPr id="4" name="Imagen 3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69F83718-CBD4-2B16-53A1-49DF1B70F96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035" r="-2203" b="57417"/>
          <a:stretch>
            <a:fillRect/>
          </a:stretch>
        </p:blipFill>
        <p:spPr>
          <a:xfrm>
            <a:off x="3932199" y="4444323"/>
            <a:ext cx="2653787" cy="222141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7921421-A8E9-AFD9-798B-70BD64F16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762" y="5047715"/>
            <a:ext cx="207131" cy="27271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54AE13B-63AE-348C-D8CD-643A91DFC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761" y="5796799"/>
            <a:ext cx="207131" cy="27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5558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3fd5e27-a672-42a4-8beb-85b3ca978263" xsi:nil="true"/>
    <lcf76f155ced4ddcb4097134ff3c332f xmlns="5fed4d87-20af-4328-9fe5-f1e27de1fec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803D150E4C474595ADF04E5E2D9954" ma:contentTypeVersion="12" ma:contentTypeDescription="Create a new document." ma:contentTypeScope="" ma:versionID="66905e109b00832ed9a4c81b20c39311">
  <xsd:schema xmlns:xsd="http://www.w3.org/2001/XMLSchema" xmlns:xs="http://www.w3.org/2001/XMLSchema" xmlns:p="http://schemas.microsoft.com/office/2006/metadata/properties" xmlns:ns2="5fed4d87-20af-4328-9fe5-f1e27de1fece" xmlns:ns3="73fd5e27-a672-42a4-8beb-85b3ca978263" targetNamespace="http://schemas.microsoft.com/office/2006/metadata/properties" ma:root="true" ma:fieldsID="207ddeb34fab9b1044b0a90f4ab23359" ns2:_="" ns3:_="">
    <xsd:import namespace="5fed4d87-20af-4328-9fe5-f1e27de1fece"/>
    <xsd:import namespace="73fd5e27-a672-42a4-8beb-85b3ca9782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d4d87-20af-4328-9fe5-f1e27de1fec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31d7151-b795-48f9-9207-6285658e27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fd5e27-a672-42a4-8beb-85b3ca97826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e88ced1-b198-497b-a822-c8814596d892}" ma:internalName="TaxCatchAll" ma:showField="CatchAllData" ma:web="73fd5e27-a672-42a4-8beb-85b3ca9782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C7D2BB-1657-4EE4-8908-86150FC769F1}">
  <ds:schemaRefs>
    <ds:schemaRef ds:uri="5fed4d87-20af-4328-9fe5-f1e27de1fece"/>
    <ds:schemaRef ds:uri="73fd5e27-a672-42a4-8beb-85b3ca97826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5201117-26EB-4D65-A544-7036A31AB2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272A86C-17FF-41B1-9863-D4DA42105BEE}">
  <ds:schemaRefs>
    <ds:schemaRef ds:uri="5fed4d87-20af-4328-9fe5-f1e27de1fece"/>
    <ds:schemaRef ds:uri="73fd5e27-a672-42a4-8beb-85b3ca97826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23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4" baseType="lpstr">
      <vt:lpstr>Tema de Office</vt:lpstr>
      <vt:lpstr>Testeo interno</vt:lpstr>
      <vt:lpstr>Pendientes de la ronda anterior</vt:lpstr>
      <vt:lpstr>Presentación de PowerPoint</vt:lpstr>
      <vt:lpstr>Presentación de PowerPoint</vt:lpstr>
      <vt:lpstr>Presentación de PowerPoint</vt:lpstr>
      <vt:lpstr>Presentación de PowerPoint</vt:lpstr>
      <vt:lpstr>Comentarios nuevos</vt:lpstr>
      <vt:lpstr>Instalación de la app</vt:lpstr>
      <vt:lpstr>Registro de salud - Glucosa</vt:lpstr>
      <vt:lpstr>PHQ-8</vt:lpstr>
      <vt:lpstr>Sincronización</vt:lpstr>
      <vt:lpstr>Presentación de PowerPoint</vt:lpstr>
      <vt:lpstr>Reinstalación y continuidad de los datos</vt:lpstr>
      <vt:lpstr>Correcciones de texto</vt:lpstr>
      <vt:lpstr>Pregunta del día</vt:lpstr>
      <vt:lpstr>Mensajes emergentes</vt:lpstr>
      <vt:lpstr>Mensajes emergentes</vt:lpstr>
      <vt:lpstr>PHQ-8</vt:lpstr>
      <vt:lpstr>Pedido de ayuda a la promotora</vt:lpstr>
      <vt:lpstr>Pedido de ayuda a la promotora</vt:lpstr>
      <vt:lpstr>Cuestionario – PHQ8</vt:lpstr>
      <vt:lpstr>Consultas para el equipo tecnológico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59</cp:revision>
  <dcterms:created xsi:type="dcterms:W3CDTF">2026-01-12T19:45:57Z</dcterms:created>
  <dcterms:modified xsi:type="dcterms:W3CDTF">2026-06-16T19:47:50Z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0x010100F0803D150E4C474595ADF04E5E2D9954</vt:lpwstr>
  </property>
  <property fmtid="{D5CDD505-2E9C-101B-9397-08002B2CF9AE}" pid="3" name="MediaServiceImageTags">
    <vt:lpwstr/>
  </property>
</Properties>
</file>